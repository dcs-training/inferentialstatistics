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18C_A6B01A6A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0"/>
  </p:notesMasterIdLst>
  <p:sldIdLst>
    <p:sldId id="324" r:id="rId5"/>
    <p:sldId id="380" r:id="rId6"/>
    <p:sldId id="340" r:id="rId7"/>
    <p:sldId id="391" r:id="rId8"/>
    <p:sldId id="388" r:id="rId9"/>
    <p:sldId id="390" r:id="rId10"/>
    <p:sldId id="378" r:id="rId11"/>
    <p:sldId id="381" r:id="rId12"/>
    <p:sldId id="379" r:id="rId13"/>
    <p:sldId id="395" r:id="rId14"/>
    <p:sldId id="393" r:id="rId15"/>
    <p:sldId id="384" r:id="rId16"/>
    <p:sldId id="394" r:id="rId17"/>
    <p:sldId id="397" r:id="rId18"/>
    <p:sldId id="387" r:id="rId19"/>
    <p:sldId id="382" r:id="rId20"/>
    <p:sldId id="385" r:id="rId21"/>
    <p:sldId id="396" r:id="rId22"/>
    <p:sldId id="386" r:id="rId23"/>
    <p:sldId id="401" r:id="rId24"/>
    <p:sldId id="399" r:id="rId25"/>
    <p:sldId id="400" r:id="rId26"/>
    <p:sldId id="398" r:id="rId27"/>
    <p:sldId id="371" r:id="rId28"/>
    <p:sldId id="372" r:id="rId29"/>
  </p:sldIdLst>
  <p:sldSz cx="12192000" cy="6858000"/>
  <p:notesSz cx="6858000" cy="9144000"/>
  <p:embeddedFontLst>
    <p:embeddedFont>
      <p:font typeface="Integral CF Bold" panose="020B0604020202020204" charset="0"/>
      <p:bold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AC4C8E-F9F4-3550-1C30-98CD85F1BD0F}" name="Ponrawee Prasertsom" initials="PP" userId="S::s2111951@ed.ac.uk::ca3d20ff-c61f-40ec-a3d5-59bcac12f0c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IELIN Lucia" initials="ML" lastIdx="2" clrIdx="0">
    <p:extLst>
      <p:ext uri="{19B8F6BF-5375-455C-9EA6-DF929625EA0E}">
        <p15:presenceInfo xmlns:p15="http://schemas.microsoft.com/office/powerpoint/2012/main" userId="MICHIELIN Luc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5F"/>
    <a:srgbClr val="FD0E67"/>
    <a:srgbClr val="A7FF42"/>
    <a:srgbClr val="E6FB04"/>
    <a:srgbClr val="00CEC0"/>
    <a:srgbClr val="0E0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242DF-73E3-4C9B-86F9-267E66D2C92C}" v="59" dt="2025-12-08T21:15:20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8862" autoAdjust="0"/>
  </p:normalViewPr>
  <p:slideViewPr>
    <p:cSldViewPr snapToGrid="0">
      <p:cViewPr varScale="1">
        <p:scale>
          <a:sx n="95" d="100"/>
          <a:sy n="95" d="100"/>
        </p:scale>
        <p:origin x="103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viewProps" Target="viewProps.xml"/></Relationships>
</file>

<file path=ppt/comments/modernComment_18C_A6B01A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3800EA-5851-4F49-AC77-296D6E3AA18E}" authorId="{C8AC4C8E-F9F4-3550-1C30-98CD85F1BD0F}" created="2025-12-02T14:41:42.3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96558954" sldId="396"/>
      <ac:picMk id="12" creationId="{601683D4-A25F-E5B6-33B9-FA08CB392E30}"/>
    </ac:deMkLst>
    <p188:txBody>
      <a:bodyPr/>
      <a:lstStyle/>
      <a:p>
        <a:r>
          <a:rPr lang="en-GB"/>
          <a:t>add simulation link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3E376-DCEC-4E32-8E5C-951527E1D3F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98987-9F69-40EE-8450-32CA8752F4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59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98987-9F69-40EE-8450-32CA8752F43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507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653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59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22DC-E321-CB1F-C237-92BB5814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A879D-5043-652E-D1C8-F2CC2045D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4FBB6-3880-5DD0-751E-9F57F42BD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EA026-8EC3-63B0-80AD-207110EF7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928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1D50-0673-22D9-DA67-42C06827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0012D-372A-A48C-03D4-699014086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11D6E-DDDE-F9BE-CF34-83ECB39A4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50FA8-31E4-47C3-CB54-E697D7D31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272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107A-A6FF-4F8A-2AE3-F2337E4B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A3149-CB53-4907-7CA8-EFE20B054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103D9-2E67-5C66-1C29-363541A74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677D9-52D1-561F-2B3B-C4F65BEAB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072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5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42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23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605F-2865-936F-726F-22451EB0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4EBD3-E137-325A-CC0B-0AA469946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7DE2C-318D-AF5D-0572-BFB846BE2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DF64-CA77-AEFC-AD3B-1991E7F48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74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09FC-9078-B638-E6B1-3425A1AB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1CACE-10A4-CAA4-B732-5BF77C593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6B6F3-4C21-021A-599F-5C5A9DC0D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DE789-233F-C5D3-5A8B-E83F63BD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819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656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D588-F143-71C3-B1B3-6686BFF0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E4C64-AD36-5ECE-040C-6BE28786C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A4C3A-2DD9-810D-8E11-9745F62C6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F42A-5DEA-A7AE-E984-1B3535CC8F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555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53C61-68F9-54AE-97AA-5897F13C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D0ACC-FCCD-2F3E-8F8C-E9653A291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4E374-8E57-6078-193A-FC6B085A6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0D7E7-37BB-BBEA-7A31-A63261EBCB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287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489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392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424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59F5-EE61-5D28-4144-992B4F1C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3D4EE-DD44-81F3-B8DE-194623DAC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238A3-A353-4333-9769-0698F2CA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80D18-E3D5-E1E8-0A1E-393FE4A76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101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33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882-C9E5-184F-D890-A2F696C3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40F7B-0633-1A94-18AE-E924B5CAB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76834-B4B1-4223-74D7-02BEECAA1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FAB8-4E4B-DB8D-CEBF-912AC1E18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208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DF78-FA26-5037-A6E6-6CC64C9A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19768-5744-8282-CF56-CCB483FEE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FC1D3-CA1E-AED2-E6DA-1786AFCBD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C902-3EC2-5447-564D-5899C7B59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955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A2D9-C982-3B71-2ACF-0BA7C005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69957-E0EE-332D-8F76-F97F497FE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C4770-8A0F-17BD-1356-1C973B9BB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5CB6-7360-60A7-6872-E43C0F3B7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568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9F0BC-CE4E-D587-C344-43E9FD9B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F03EE-0A76-1341-2A0C-CE93BAE81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068D3-DB89-8FE7-6E5A-86773BC79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5194A-C728-CF98-6EB9-6EFA53272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5111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177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4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EADA-4E4C-4B1A-9E48-3505DC6F3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2C029-FAC1-43E3-B9B7-F97BA6807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61FF3-79C0-46B1-BA08-B040EC7C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AE842-F622-45E6-99F9-C03F2CE9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ECBD7-CA47-4E39-A78B-8B614829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87E5-8BCE-4773-956F-29D1847A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0ADC-A777-49C1-AAC1-86469815B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91A1-D9D9-42E9-89ED-B573D15F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FF5E-918F-49BB-B86C-6F681706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FA42-0180-496F-8332-BDA4FAD0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26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ECDF-A1AC-42AE-8967-311A28B7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9F214-0053-4BBB-A0D3-F9CF95306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97B61-572B-4AEC-9883-84BB3A79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F9E2A-B892-4E43-9B88-C126B447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F8D4-BA1D-4E56-90ED-EC0CE473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032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68CF-D16C-4AE5-8E3B-1C8010CB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8F6C6-FE33-4B5C-B847-3267C9519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DD897-B1B4-4F69-96B6-04052944B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46083-61F2-4EE3-85C9-63085B0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663BE-A080-4354-A5BF-21D63DED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7F3A5-ED21-4686-A0BA-47209F4D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4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7348-314C-4F82-8EAD-EEE92F8D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F9BBC-FD8F-4171-AAFE-591B95E5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528E5-8E01-46DC-835D-3CCC52468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40C01-3609-4132-84BD-6FD2E2491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979113-23A6-4A89-8018-068BA0EF9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65A4A-3AFB-4B93-BFA9-E3B87032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B786E-E60A-41D0-900A-59059E35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70413-F785-4A2C-9DCC-14DE9D66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22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78F6-B2C1-42ED-B4D6-5C047938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49150-944A-4A2F-9779-D8612D2D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2493A-F2E2-414A-87EF-12581896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472BA-03E9-406A-9B4C-1620007F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3B958-A54E-4794-9283-12F52BAB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06670-CAC4-4B3B-B6A2-F1F74642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4E8F4-B767-4C3E-8BE2-CFF00113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00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3F26-7A69-45D1-A5F7-ED4B2FBC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2DE6-AC58-49FD-BDC0-A4D9E6E3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E5F0C-44DA-4D48-AC20-81DFD680F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0C886-6799-4313-8079-C997E47A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56221-942F-4A81-9644-C74560FE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464BF-CAC5-4AE5-BA4B-96B1889B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02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2DB0-792B-4277-BC4D-B01775EB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1A0D9-D1C9-401D-AC7E-FE567BA4F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E8E93-0A55-4EEA-9621-A5F6A7608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EB92-D26D-4995-9FDD-12AB9D88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1A7F-FF0E-4AA9-8643-AEFB3237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C4A92-3897-445A-B2DC-CFE04355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75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D717-A333-40CD-B3D0-765392BD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8468B-302E-4E3D-9AE2-CA57DBD69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55DE0-0827-4D38-BAAB-61C29CEB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20463-033B-4D32-A6A7-5E2E4A39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D3FD-4DB3-4C4A-B762-87BEE780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29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DD97D-A7CC-4552-9251-EA6088EE0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372BB-FD61-415F-A9EC-C95501D76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0775-65FB-46E2-AE45-2CBAF6BE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69C82-7E3C-4F4E-BC3F-A4A669E6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98B74-8247-4929-9E4F-E6AA86A1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7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61E42-C33F-404F-9C3D-4452ED7C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A03C3-2A1F-43C1-83F5-9C808FB1E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105F0-C9DA-4B0B-9C1A-B06308C90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50185-C63E-410B-9859-207D7187126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2184B-A178-44BF-9A50-61BE00923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7F6A1-9260-4DDA-AEDA-87C6809AA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BA15A-2B3E-4F30-BFCA-7E6E989CF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56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linestatbook.com/stat_sim/sampling_dist/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C_A6B01A6A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orms.office.com/r/YYNrqvuNr8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F24172-CD57-4595-8E33-D7120E4CF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96" y="400584"/>
            <a:ext cx="3831944" cy="7541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E97E92-32AB-4C48-82A5-1E30001ACB6A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FD67A-C976-4C84-A848-3C9F53B274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8DB050-4806-4313-9B74-AA38CD2AF605}"/>
              </a:ext>
            </a:extLst>
          </p:cNvPr>
          <p:cNvSpPr/>
          <p:nvPr/>
        </p:nvSpPr>
        <p:spPr>
          <a:xfrm>
            <a:off x="5058930" y="6400800"/>
            <a:ext cx="2219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4BBF0-BFF5-48AA-B957-02552792D74C}"/>
              </a:ext>
            </a:extLst>
          </p:cNvPr>
          <p:cNvSpPr txBox="1"/>
          <p:nvPr/>
        </p:nvSpPr>
        <p:spPr>
          <a:xfrm>
            <a:off x="93357" y="2192041"/>
            <a:ext cx="5480979" cy="1177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3200" b="1" dirty="0">
                <a:solidFill>
                  <a:srgbClr val="002060"/>
                </a:solidFill>
                <a:latin typeface="Integral CF Bold" panose="00000800000000000000" pitchFamily="50" charset="0"/>
              </a:rPr>
              <a:t>Inferential Statistics</a:t>
            </a:r>
            <a:endParaRPr lang="en-GB" sz="3200" b="1" i="0" dirty="0">
              <a:solidFill>
                <a:srgbClr val="002060"/>
              </a:solidFill>
              <a:effectLst/>
              <a:latin typeface="Integral CF Bold" panose="00000800000000000000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D403B-966F-453F-9F01-EB2D480A5B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293" y="-730896"/>
            <a:ext cx="2721028" cy="272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7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pic>
        <p:nvPicPr>
          <p:cNvPr id="4" name="Picture 3" descr="A diagram of people connected to a circle&#10;&#10;Description automatically generated">
            <a:extLst>
              <a:ext uri="{FF2B5EF4-FFF2-40B4-BE49-F238E27FC236}">
                <a16:creationId xmlns:a16="http://schemas.microsoft.com/office/drawing/2014/main" id="{B855E649-DC60-842C-6EBA-E09E5D27AE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09" y="864407"/>
            <a:ext cx="8242781" cy="453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9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What is a hypothesis?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group of people&#10;&#10;Description automatically generated">
            <a:extLst>
              <a:ext uri="{FF2B5EF4-FFF2-40B4-BE49-F238E27FC236}">
                <a16:creationId xmlns:a16="http://schemas.microsoft.com/office/drawing/2014/main" id="{287A23E5-4099-3FE0-D786-4E88E88DC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856" y="1342161"/>
            <a:ext cx="5769011" cy="384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8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B5ED-8FF4-A87C-D278-E33AAEA7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4C8381-FBCC-8AB7-7FA4-E4EDD51273B9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5DE95A-C859-C3CE-DCCA-5CC73A60A1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0CB58E-4096-8AF8-39DD-6FA7EC5E1D76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3C3A2-58BF-0E67-BC1D-513F685D3767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568A71-3695-3666-7F17-586A73B6F5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53C680-1D17-7B1D-8C3C-0DCBCF00D1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F80C9-EEAD-43D0-8885-D80C779F38AC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Testing a hypothesis.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1F020-67D2-0D98-F384-45146A1BA29F}"/>
              </a:ext>
            </a:extLst>
          </p:cNvPr>
          <p:cNvSpPr txBox="1"/>
          <p:nvPr/>
        </p:nvSpPr>
        <p:spPr>
          <a:xfrm>
            <a:off x="471753" y="1589593"/>
            <a:ext cx="11248494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(Somewhat convoluted) intuition:</a:t>
            </a:r>
          </a:p>
          <a:p>
            <a:endParaRPr lang="en-GB" sz="28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Imagine a world where your hypothesis of interest is </a:t>
            </a: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true, then figure out how </a:t>
            </a: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unlikely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the data, or something more extreme than the data, is in that world.</a:t>
            </a:r>
          </a:p>
          <a:p>
            <a:endParaRPr lang="en-GB" sz="28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If it’s unlikely, then you have support for your hypothesis of interest.</a:t>
            </a:r>
          </a:p>
        </p:txBody>
      </p:sp>
    </p:spTree>
    <p:extLst>
      <p:ext uri="{BB962C8B-B14F-4D97-AF65-F5344CB8AC3E}">
        <p14:creationId xmlns:p14="http://schemas.microsoft.com/office/powerpoint/2010/main" val="166513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BADF-3974-D4BD-BF24-C82B5888F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617730-4D04-CB0F-6B51-E72A3B74C88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9B2805-FBF4-8FCD-1D51-8D9F72A81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1A7595-C799-AB85-14EB-7CCB2DED7C81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3DF10-7090-7BC2-2B71-97E44E2FCF7F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964BCD-D3C9-4DE6-889C-926E6B838E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D7FA95-B8DD-36D9-6DDD-CBFA513908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81D93-44F5-2824-7A86-94BE6088F6EE}"/>
              </a:ext>
            </a:extLst>
          </p:cNvPr>
          <p:cNvSpPr txBox="1"/>
          <p:nvPr/>
        </p:nvSpPr>
        <p:spPr>
          <a:xfrm>
            <a:off x="3887376" y="362952"/>
            <a:ext cx="600797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How do I formulate a hypothesis?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407933-A92F-B104-5D0A-94C0EFFC9265}"/>
              </a:ext>
            </a:extLst>
          </p:cNvPr>
          <p:cNvSpPr txBox="1"/>
          <p:nvPr/>
        </p:nvSpPr>
        <p:spPr>
          <a:xfrm>
            <a:off x="904906" y="2612680"/>
            <a:ext cx="1043018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Source Sans Pro"/>
                <a:ea typeface="Source Sans Pro"/>
                <a:cs typeface="Calibri"/>
              </a:rPr>
              <a:t>H0: Dogs and cats are equally tall on average</a:t>
            </a:r>
          </a:p>
          <a:p>
            <a:r>
              <a:rPr lang="en-GB" sz="40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H1: Dogs are taller than cats on average</a:t>
            </a:r>
          </a:p>
        </p:txBody>
      </p:sp>
    </p:spTree>
    <p:extLst>
      <p:ext uri="{BB962C8B-B14F-4D97-AF65-F5344CB8AC3E}">
        <p14:creationId xmlns:p14="http://schemas.microsoft.com/office/powerpoint/2010/main" val="1265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E324-338E-20E0-3BB1-0847F02E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4BCB5F-0A6C-0BD3-9F25-F516694E50F0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DA4B07-3300-E0FA-1D4E-DD670E627E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547F8A-E525-FE70-E9BA-DF509C1F9E69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535A9-0DD2-DF2F-F192-4761D8179215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849D78-0EF2-046D-7DD2-6B1FEC18E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0387B7-58FE-9A00-3DC5-D71285A5D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76592-397A-F8A6-2C6B-E50C7756A4A0}"/>
              </a:ext>
            </a:extLst>
          </p:cNvPr>
          <p:cNvSpPr txBox="1"/>
          <p:nvPr/>
        </p:nvSpPr>
        <p:spPr>
          <a:xfrm>
            <a:off x="3887376" y="362952"/>
            <a:ext cx="600797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How do I formulate a hypothesis?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60476-F46D-B07E-9460-7AA4DD5C42F6}"/>
              </a:ext>
            </a:extLst>
          </p:cNvPr>
          <p:cNvSpPr txBox="1"/>
          <p:nvPr/>
        </p:nvSpPr>
        <p:spPr>
          <a:xfrm>
            <a:off x="904906" y="2612680"/>
            <a:ext cx="1043018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H0: Dogs and cats are equally tall on average</a:t>
            </a:r>
          </a:p>
          <a:p>
            <a:r>
              <a:rPr lang="en-GB" sz="40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H1: Dogs are taller than cats on average</a:t>
            </a:r>
          </a:p>
        </p:txBody>
      </p:sp>
    </p:spTree>
    <p:extLst>
      <p:ext uri="{BB962C8B-B14F-4D97-AF65-F5344CB8AC3E}">
        <p14:creationId xmlns:p14="http://schemas.microsoft.com/office/powerpoint/2010/main" val="263041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How do I formulate a hypothesis?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00B7F-D03B-1185-8F91-4005441D9439}"/>
              </a:ext>
            </a:extLst>
          </p:cNvPr>
          <p:cNvSpPr txBox="1"/>
          <p:nvPr/>
        </p:nvSpPr>
        <p:spPr>
          <a:xfrm>
            <a:off x="904906" y="2399946"/>
            <a:ext cx="1043018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H0 (null): The “baseline” hypothesis, where your hypothesis of interest is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</a:t>
            </a: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true</a:t>
            </a:r>
            <a:endParaRPr lang="en-GB" sz="28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H1 (alternative): The hypothesis you want to test</a:t>
            </a:r>
            <a:endParaRPr lang="en-GB" sz="24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415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Testing a hypothesis.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D06BD-2C4D-6CC6-8622-DCE8698CA1B6}"/>
              </a:ext>
            </a:extLst>
          </p:cNvPr>
          <p:cNvSpPr txBox="1"/>
          <p:nvPr/>
        </p:nvSpPr>
        <p:spPr>
          <a:xfrm>
            <a:off x="495753" y="1891392"/>
            <a:ext cx="1124849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742950">
              <a:buAutoNum type="arabicPeriod"/>
            </a:pP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Null and alternative hypotheses</a:t>
            </a:r>
          </a:p>
          <a:p>
            <a:pPr marL="742950" indent="-742950">
              <a:buAutoNum type="arabicPeriod"/>
            </a:pP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Figure out how likely the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test statistic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</a:t>
            </a: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for the results that are at least as extreme as observed are under the null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(i.e., compute the </a:t>
            </a:r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p-value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0264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What is a test statistic?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2DD94-B83D-DBBF-5DD0-691DC0C4046E}"/>
              </a:ext>
            </a:extLst>
          </p:cNvPr>
          <p:cNvSpPr txBox="1"/>
          <p:nvPr/>
        </p:nvSpPr>
        <p:spPr>
          <a:xfrm>
            <a:off x="495753" y="1741671"/>
            <a:ext cx="1124849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 value you get from samples for the purposes of hypothesis testing. </a:t>
            </a:r>
          </a:p>
          <a:p>
            <a:endParaRPr lang="en-GB" sz="32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Example: </a:t>
            </a:r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t-statistic 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(used to test means or mean differences, among other things)</a:t>
            </a:r>
          </a:p>
        </p:txBody>
      </p:sp>
    </p:spTree>
    <p:extLst>
      <p:ext uri="{BB962C8B-B14F-4D97-AF65-F5344CB8AC3E}">
        <p14:creationId xmlns:p14="http://schemas.microsoft.com/office/powerpoint/2010/main" val="377176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4AEB-BD8A-21B5-469C-4584915E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5095C3-3D12-7E21-551A-7827B5D4ABF6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5BADA9-B1A2-69BD-4727-F9C512D1D0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24C63C-5575-DF03-EED9-660224EB2451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7E72B-4042-F664-CD54-CF9A145D27B2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EE4DA6-C72A-B93D-37CD-06F8C43B66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19A9B9-473F-6555-58CF-54929C8F76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5CDFAE-E0C4-8748-37C4-A5936373908B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What is a p-value?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0BE88997-4A75-E70C-A117-EBCDF590EB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54" y="1296919"/>
            <a:ext cx="5831840" cy="393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50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8A1F-A0DB-1174-EAEF-9DC88D17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8180F2-8F76-24CE-ABA5-336201C79BC6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852EA8-9726-152D-9719-371D03CF4B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F17C1E9-1668-580B-8233-6AD23FC72768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6268DA-11EB-2675-EB6C-EE796F29E5E8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42F95D-517B-4A5E-0E80-0965DE3CB6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A43881-0168-9973-27D3-BB041B1C8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5B4108-6419-C774-E696-CDF35F3BE9A9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What is NOT a p-value?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FD2B2C-F74E-932D-C759-E2CE20F8B808}"/>
              </a:ext>
            </a:extLst>
          </p:cNvPr>
          <p:cNvSpPr txBox="1"/>
          <p:nvPr/>
        </p:nvSpPr>
        <p:spPr>
          <a:xfrm>
            <a:off x="471753" y="1297678"/>
            <a:ext cx="1048095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 p-value does </a:t>
            </a:r>
            <a:r>
              <a:rPr lang="en-GB" sz="3600" b="1" dirty="0">
                <a:solidFill>
                  <a:srgbClr val="C00000"/>
                </a:solidFill>
                <a:latin typeface="Source Sans Pro"/>
                <a:ea typeface="Source Sans Pro"/>
                <a:cs typeface="Calibri"/>
              </a:rPr>
              <a:t>NOT</a:t>
            </a: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measure</a:t>
            </a:r>
          </a:p>
          <a:p>
            <a:endParaRPr lang="en-GB" sz="3600" b="1" dirty="0">
              <a:solidFill>
                <a:srgbClr val="C00000"/>
              </a:solidFill>
              <a:latin typeface="Source Sans Pro"/>
              <a:ea typeface="Source Sans Pro"/>
              <a:cs typeface="Calibri"/>
            </a:endParaRPr>
          </a:p>
          <a:p>
            <a:pPr marL="742950" indent="-742950">
              <a:buAutoNum type="arabicPeriod"/>
            </a:pP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Probability of null (or alternative, or </a:t>
            </a:r>
            <a:r>
              <a:rPr lang="en-GB" sz="3200" i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any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) hypothesis being true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(or false).</a:t>
            </a:r>
            <a:endParaRPr lang="en-GB" sz="32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pPr marL="742950" indent="-742950">
              <a:buAutoNum type="arabicPeriod"/>
            </a:pP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The size of the effect of interest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(e.g., a low p-value doesn’t mean that the difference between heights is high)</a:t>
            </a:r>
            <a:endParaRPr lang="en-GB" sz="32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65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2058990" y="907663"/>
            <a:ext cx="807401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What is a confidence interval?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A green and red diagram&#10;&#10;Description automatically generated">
            <a:extLst>
              <a:ext uri="{FF2B5EF4-FFF2-40B4-BE49-F238E27FC236}">
                <a16:creationId xmlns:a16="http://schemas.microsoft.com/office/drawing/2014/main" id="{73F4DDAF-6EEB-CF91-F075-6D6799F18B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175" y="1759259"/>
            <a:ext cx="6202680" cy="35508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B2FC08-D4BE-3551-8D2D-C1DB3A4936B3}"/>
              </a:ext>
            </a:extLst>
          </p:cNvPr>
          <p:cNvSpPr txBox="1"/>
          <p:nvPr/>
        </p:nvSpPr>
        <p:spPr>
          <a:xfrm>
            <a:off x="801871" y="2222767"/>
            <a:ext cx="39007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Confidence interval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=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Estimated range of values which is likely to include an unknown value</a:t>
            </a:r>
          </a:p>
        </p:txBody>
      </p:sp>
    </p:spTree>
    <p:extLst>
      <p:ext uri="{BB962C8B-B14F-4D97-AF65-F5344CB8AC3E}">
        <p14:creationId xmlns:p14="http://schemas.microsoft.com/office/powerpoint/2010/main" val="263595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980D-39A9-D1A4-2955-09192CCE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6C3AE6-CD38-41C8-38CE-CD945544FCA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1514B0-884C-67D9-391B-B07AF77CD2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8E76A9-8CD6-535F-F129-BCA5E4E5DF81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749AC-7E41-F0D7-F2D3-1BE6D30456B9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A6DDB1F-6004-953C-9C68-70678DDB10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10760-982B-ADF0-E05D-E30F648DB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80FBF-2498-098E-325D-680DE1B17CCD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Testing a hypothesis.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2BDAF0-1868-D9EE-2D29-33F472997F0D}"/>
              </a:ext>
            </a:extLst>
          </p:cNvPr>
          <p:cNvSpPr txBox="1"/>
          <p:nvPr/>
        </p:nvSpPr>
        <p:spPr>
          <a:xfrm>
            <a:off x="495753" y="1891392"/>
            <a:ext cx="11248494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742950">
              <a:buAutoNum type="arabicPeriod"/>
            </a:pP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Null and alternative hypotheses</a:t>
            </a:r>
          </a:p>
          <a:p>
            <a:pPr marL="742950" indent="-742950">
              <a:buAutoNum type="arabicPeriod"/>
            </a:pP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Figure out how likely the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test statistic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</a:t>
            </a: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for the results that are at least as extreme as observed are under the null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(i.e., compute the </a:t>
            </a:r>
            <a:r>
              <a:rPr lang="en-GB" sz="32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p-value</a:t>
            </a:r>
            <a:r>
              <a:rPr lang="en-GB" sz="32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)</a:t>
            </a:r>
          </a:p>
          <a:p>
            <a:pPr marL="742950" indent="-742950">
              <a:buAutoNum type="arabicPeriod"/>
            </a:pP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Check if p-value falls below your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significance level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(e.g., p &lt; 0.05 in social sciences and psychology)</a:t>
            </a:r>
            <a:endParaRPr lang="en-GB" sz="36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29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3D1D-DD99-374B-556A-524582A9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15E7D6-B160-885A-9718-80FC9812716E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8422C-7A26-D3CB-8E26-3EE16A1A0F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5709399-BE47-8DB8-5B84-7973DA95B16C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259A75-1DFB-E745-70DC-4B6B0B54652E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DB9A55-E377-9711-05B0-CEB2444563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3FB33E-FEA7-C604-A2CB-5B5DFCB16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CC6050-DC78-4029-FCB1-3BD0FF1905C8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Significance level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58538-95EF-B7EA-D197-8C7B2C30AE03}"/>
              </a:ext>
            </a:extLst>
          </p:cNvPr>
          <p:cNvSpPr txBox="1"/>
          <p:nvPr/>
        </p:nvSpPr>
        <p:spPr>
          <a:xfrm>
            <a:off x="495753" y="1891392"/>
            <a:ext cx="11248494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Significance level</a:t>
            </a: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is the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acceptable error rate</a:t>
            </a:r>
            <a:r>
              <a:rPr lang="en-GB" sz="3600" b="1" i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in case </a:t>
            </a:r>
            <a:r>
              <a:rPr lang="en-GB" sz="36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the null hypothesis is true (Type I error)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.</a:t>
            </a:r>
            <a:endParaRPr lang="en-GB" sz="36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endParaRPr lang="en-GB" sz="36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i.e., </a:t>
            </a: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in a world where your hypothesis is true, 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how likely is it that you will (falsely) conclude that it is not true (reject the null)?</a:t>
            </a:r>
          </a:p>
        </p:txBody>
      </p:sp>
    </p:spTree>
    <p:extLst>
      <p:ext uri="{BB962C8B-B14F-4D97-AF65-F5344CB8AC3E}">
        <p14:creationId xmlns:p14="http://schemas.microsoft.com/office/powerpoint/2010/main" val="175831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BIG STATS POINT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D06BD-2C4D-6CC6-8622-DCE8698CA1B6}"/>
              </a:ext>
            </a:extLst>
          </p:cNvPr>
          <p:cNvSpPr txBox="1"/>
          <p:nvPr/>
        </p:nvSpPr>
        <p:spPr>
          <a:xfrm>
            <a:off x="1028371" y="1864781"/>
            <a:ext cx="1018325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800" b="1" u="sng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REJECT</a:t>
            </a:r>
            <a:r>
              <a:rPr lang="en-GB" sz="8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the </a:t>
            </a:r>
            <a:r>
              <a:rPr lang="en-GB" sz="8800" b="1" i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NULL if p &lt; 0.05</a:t>
            </a:r>
            <a:r>
              <a:rPr lang="en-GB" sz="8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or </a:t>
            </a:r>
            <a:r>
              <a:rPr lang="en-GB" sz="8800" b="1" u="sng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3433318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 difference in means </a:t>
            </a:r>
          </a:p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= Paired T-Testing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04000-250F-3B5A-62C8-692712D7E90D}"/>
              </a:ext>
            </a:extLst>
          </p:cNvPr>
          <p:cNvSpPr txBox="1"/>
          <p:nvPr/>
        </p:nvSpPr>
        <p:spPr>
          <a:xfrm>
            <a:off x="262073" y="2067446"/>
            <a:ext cx="1171585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H0: My two groups have the same mean.</a:t>
            </a:r>
          </a:p>
          <a:p>
            <a:r>
              <a:rPr lang="en-GB" sz="4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H1: My two groups of data have a different mean.</a:t>
            </a:r>
            <a:endParaRPr lang="en-GB" sz="32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7CB61-AEEA-9157-9539-2B82BD5C7548}"/>
              </a:ext>
            </a:extLst>
          </p:cNvPr>
          <p:cNvSpPr txBox="1"/>
          <p:nvPr/>
        </p:nvSpPr>
        <p:spPr>
          <a:xfrm>
            <a:off x="230605" y="3693872"/>
            <a:ext cx="1171585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i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Assume: The data are independent and the means of the data are normally distributed </a:t>
            </a:r>
            <a:endParaRPr lang="en-GB" sz="3200" i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0318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Central Limit Theorem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E8CB3-7D4C-9D20-9D9A-7B6E1559014F}"/>
              </a:ext>
            </a:extLst>
          </p:cNvPr>
          <p:cNvSpPr txBox="1"/>
          <p:nvPr/>
        </p:nvSpPr>
        <p:spPr>
          <a:xfrm>
            <a:off x="4269847" y="4517680"/>
            <a:ext cx="37003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hlinkClick r:id="rId6"/>
              </a:rPr>
              <a:t>CLT Simulation</a:t>
            </a:r>
            <a:endParaRPr lang="en-GB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EAAF3-82BD-5B6A-3C9A-8C41B67A3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7376" y="1416507"/>
            <a:ext cx="4057368" cy="310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80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BF1DF5-5C9A-85A9-2341-55999036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8DBB9E-E056-B822-F480-6B47FDC6014B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945BBE-F73A-B2E1-DFF1-D7FB169C1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0B069-3C47-DA2D-135D-58EBEBE02426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00B1C-EBB5-6434-9B7F-430480B77281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AFA2F-C010-3BBB-0330-A56DB826A1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3B48AD-9D59-AD24-D2AA-A6C2EE923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06A926-D2F8-6605-05F5-807DD0B3ECE1}"/>
              </a:ext>
            </a:extLst>
          </p:cNvPr>
          <p:cNvSpPr txBox="1"/>
          <p:nvPr/>
        </p:nvSpPr>
        <p:spPr>
          <a:xfrm>
            <a:off x="3887376" y="362952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Central Limit Theorem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" name="Picture 11" descr="A collage of dice and graph&#10;&#10;Description automatically generated">
            <a:extLst>
              <a:ext uri="{FF2B5EF4-FFF2-40B4-BE49-F238E27FC236}">
                <a16:creationId xmlns:a16="http://schemas.microsoft.com/office/drawing/2014/main" id="{601683D4-A25F-E5B6-33B9-FA08CB392E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245" y="1279639"/>
            <a:ext cx="7942104" cy="397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589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2749456" y="1093710"/>
            <a:ext cx="600797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Central Limit Theorem</a:t>
            </a:r>
            <a:endParaRPr lang="en-US" sz="4400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31468-8415-2D6A-0075-6A501000305A}"/>
              </a:ext>
            </a:extLst>
          </p:cNvPr>
          <p:cNvSpPr txBox="1"/>
          <p:nvPr/>
        </p:nvSpPr>
        <p:spPr>
          <a:xfrm>
            <a:off x="1858236" y="2203336"/>
            <a:ext cx="847552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When I have a sample size over 30, I can assume that the mean of the data is normally distributed.</a:t>
            </a:r>
            <a:endParaRPr lang="en-GB" sz="32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9901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09625-EF3F-0630-FF6F-9B341D07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1D8176-9769-9A01-92B4-847738FBB97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C4A97-E6B6-8301-2AD4-D3F43082B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059301-1923-9CFD-49E8-9E2E0BD7C262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14F5B-13E4-E939-D5B6-067E5D438317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64B5E7-AACB-5158-33D8-D80048BBB1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CA6C1B-2762-1D33-D44C-A95F386042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FC81E5-33F2-0EDA-2971-C88B733596DC}"/>
              </a:ext>
            </a:extLst>
          </p:cNvPr>
          <p:cNvSpPr txBox="1"/>
          <p:nvPr/>
        </p:nvSpPr>
        <p:spPr>
          <a:xfrm>
            <a:off x="3379211" y="873742"/>
            <a:ext cx="657290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 panose="020F0502020204030204"/>
              </a:rPr>
              <a:t>Exercise (discussion)</a:t>
            </a:r>
            <a:endParaRPr lang="en-GB" i="1" dirty="0">
              <a:solidFill>
                <a:schemeClr val="accent5">
                  <a:lumMod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CA149-3514-6DBD-7D90-2FEF007BBA77}"/>
              </a:ext>
            </a:extLst>
          </p:cNvPr>
          <p:cNvSpPr txBox="1"/>
          <p:nvPr/>
        </p:nvSpPr>
        <p:spPr>
          <a:xfrm>
            <a:off x="936171" y="1750845"/>
            <a:ext cx="1031965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 scientist hypothesizes that students from Group A are taller than students from Group B. She calculates the sample mean heights for both groups, and finds that the mean height of Group A is larger by 5 cm. She performs a t-test on the heights and finds that the p-value is 0.00001 (sig. level = 0.05).</a:t>
            </a:r>
          </a:p>
          <a:p>
            <a:endParaRPr lang="en-GB" sz="28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Given this result, can she conclude that there is a 99.999% chance that her hypothesis is correct?</a:t>
            </a:r>
          </a:p>
        </p:txBody>
      </p:sp>
    </p:spTree>
    <p:extLst>
      <p:ext uri="{BB962C8B-B14F-4D97-AF65-F5344CB8AC3E}">
        <p14:creationId xmlns:p14="http://schemas.microsoft.com/office/powerpoint/2010/main" val="3974734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B9E5-482B-9FE0-8C7D-F86C16FA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2ED6A8-0922-54C8-606A-872A536FA80A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5B01B-76AC-6577-A97B-013CFD68D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B90F29-CFD1-F040-867E-55AE9B9E6B55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EBEED-EF1B-4036-4B4C-AB5E507DA04B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7E0502-B079-C567-F31A-C7CEEB21D2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A70222-9D28-A0DE-6212-8E09404C1F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B6CB02-D8B4-6F2C-8B36-F66F55A5C6BE}"/>
              </a:ext>
            </a:extLst>
          </p:cNvPr>
          <p:cNvSpPr txBox="1"/>
          <p:nvPr/>
        </p:nvSpPr>
        <p:spPr>
          <a:xfrm>
            <a:off x="3379211" y="873742"/>
            <a:ext cx="657290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 panose="020F0502020204030204"/>
              </a:rPr>
              <a:t>Exercise (discussion)</a:t>
            </a:r>
            <a:endParaRPr lang="en-GB" i="1" dirty="0">
              <a:solidFill>
                <a:schemeClr val="accent5">
                  <a:lumMod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1C366-EFDC-B6ED-612E-2616C910843C}"/>
              </a:ext>
            </a:extLst>
          </p:cNvPr>
          <p:cNvSpPr txBox="1"/>
          <p:nvPr/>
        </p:nvSpPr>
        <p:spPr>
          <a:xfrm>
            <a:off x="936171" y="1908901"/>
            <a:ext cx="10319657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 scientist hypothesizes that students from Group A are taller than students from Group B. She performs a t-test on Group A and B samples to test whether the mean height difference is 0 and finds that the p-value is very small (p = 0.000002).</a:t>
            </a:r>
          </a:p>
          <a:p>
            <a:endParaRPr lang="en-GB" sz="28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Given this result, should she expect that the mean difference between the two groups’ heights is very large? Why?</a:t>
            </a:r>
          </a:p>
        </p:txBody>
      </p:sp>
    </p:spTree>
    <p:extLst>
      <p:ext uri="{BB962C8B-B14F-4D97-AF65-F5344CB8AC3E}">
        <p14:creationId xmlns:p14="http://schemas.microsoft.com/office/powerpoint/2010/main" val="732835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34C6-6694-7EA1-9170-20BF30DA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EAA626-6B13-08B9-F769-1E052D6E1F96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292BC-05DA-8DF9-C641-B8D12A454D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73F83F-74DF-B48E-A7C4-76CBA125AC74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D20C5-21CB-AAD8-C12E-7EC0C7390C67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833E16-B256-BCE4-22D3-A4668574A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906107-0947-30EA-A7EF-BE708DA21D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B457EB-1271-4274-EC01-9EB99B14D8B7}"/>
              </a:ext>
            </a:extLst>
          </p:cNvPr>
          <p:cNvSpPr txBox="1"/>
          <p:nvPr/>
        </p:nvSpPr>
        <p:spPr>
          <a:xfrm>
            <a:off x="3379211" y="873742"/>
            <a:ext cx="657290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 panose="020F0502020204030204"/>
              </a:rPr>
              <a:t>Exercise (discussion)</a:t>
            </a:r>
            <a:endParaRPr lang="en-GB" i="1" dirty="0">
              <a:solidFill>
                <a:schemeClr val="accent5">
                  <a:lumMod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09E5F-E242-B3AA-B523-F92395A5FB98}"/>
              </a:ext>
            </a:extLst>
          </p:cNvPr>
          <p:cNvSpPr txBox="1"/>
          <p:nvPr/>
        </p:nvSpPr>
        <p:spPr>
          <a:xfrm>
            <a:off x="936171" y="1750845"/>
            <a:ext cx="1031965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 scientist hypothesizes that students from Group A are taller than students from Group B. She calculates the sample mean heights for both groups, and finds that the mean height of Group A is larger by 5 cm. She performs a t-test on the heights and finds that the p-value is 0.7 (sig. level = 0.05).</a:t>
            </a:r>
          </a:p>
          <a:p>
            <a:endParaRPr lang="en-GB" sz="28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Given this result, can she conclude that the mean height of Group A is </a:t>
            </a: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</a:t>
            </a:r>
            <a:r>
              <a:rPr lang="en-GB" sz="28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 higher than Group B. Why/why not?</a:t>
            </a:r>
          </a:p>
        </p:txBody>
      </p:sp>
    </p:spTree>
    <p:extLst>
      <p:ext uri="{BB962C8B-B14F-4D97-AF65-F5344CB8AC3E}">
        <p14:creationId xmlns:p14="http://schemas.microsoft.com/office/powerpoint/2010/main" val="1384746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AAE5-C4EC-0B50-C6FB-75667C17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4F959F-FAF9-9C55-7712-011F77096A02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F2F5E-9AF0-8B78-2867-894A80B74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3CEA54-807C-3ACE-E441-A674BD847092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E1F726-3FFB-ADDB-B5B2-C8502A17091C}"/>
              </a:ext>
            </a:extLst>
          </p:cNvPr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2C86A2-7D2C-1DF9-A64F-A7429D7AA2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535074-93F3-23FF-C362-6631C36E35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E4E504-1EF0-F70B-1038-0EA02EBED983}"/>
              </a:ext>
            </a:extLst>
          </p:cNvPr>
          <p:cNvSpPr txBox="1"/>
          <p:nvPr/>
        </p:nvSpPr>
        <p:spPr>
          <a:xfrm>
            <a:off x="3379211" y="873742"/>
            <a:ext cx="657290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 panose="020F0502020204030204"/>
              </a:rPr>
              <a:t>Let's do some programming</a:t>
            </a:r>
            <a:endParaRPr lang="en-GB" i="1" dirty="0">
              <a:solidFill>
                <a:schemeClr val="accent5">
                  <a:lumMod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D384B-20FD-225F-E1C8-60C14D2BBDDC}"/>
              </a:ext>
            </a:extLst>
          </p:cNvPr>
          <p:cNvSpPr txBox="1"/>
          <p:nvPr/>
        </p:nvSpPr>
        <p:spPr>
          <a:xfrm>
            <a:off x="419698" y="3343009"/>
            <a:ext cx="1085637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Notebook: </a:t>
            </a:r>
          </a:p>
          <a:p>
            <a:r>
              <a:rPr lang="en-GB" sz="4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How do I make inferential statistics?</a:t>
            </a:r>
            <a:endParaRPr lang="en-GB" sz="32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9505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1070932" y="1538023"/>
            <a:ext cx="10091153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Feedback for us...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GB" sz="28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We hope you've enjoyed the course as much as we did.</a:t>
            </a:r>
            <a:endParaRPr lang="en-GB" dirty="0">
              <a:solidFill>
                <a:schemeClr val="accent5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It is really useful for us to hear your feedback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  <a:p>
            <a:r>
              <a:rPr lang="en-GB" sz="2400" b="0" i="0" dirty="0">
                <a:effectLst/>
                <a:latin typeface="Calibri" panose="020F0502020204030204" pitchFamily="34" charset="0"/>
                <a:hlinkClick r:id="rId6"/>
              </a:rPr>
              <a:t>https://forms.office.com/r/YYNrqvuNr8</a:t>
            </a:r>
            <a:endParaRPr lang="en-GB" sz="2400" b="0" i="0" dirty="0"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solidFill>
                  <a:schemeClr val="accent5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Should be really quick and only take 5 mins (maximum!)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5609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1107996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>
                <a:solidFill>
                  <a:srgbClr val="002E5F"/>
                </a:solidFill>
              </a:rPr>
              <a:t>	</a:t>
            </a:r>
            <a:endParaRPr lang="en-GB" i="1">
              <a:solidFill>
                <a:srgbClr val="002E5F"/>
              </a:solidFill>
              <a:cs typeface="Calibri" panose="020F0502020204030204"/>
            </a:endParaRPr>
          </a:p>
          <a:p>
            <a:r>
              <a:rPr lang="en-GB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307804" y="1075613"/>
            <a:ext cx="356530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Thank you from us!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b="1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pic>
        <p:nvPicPr>
          <p:cNvPr id="6" name="Picture 5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186806D4-ECE8-4186-7886-6422020C1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038" y="3499432"/>
            <a:ext cx="2780987" cy="16435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49D8B0-051F-7EC4-E680-94D6C379DF7B}"/>
              </a:ext>
            </a:extLst>
          </p:cNvPr>
          <p:cNvSpPr txBox="1"/>
          <p:nvPr/>
        </p:nvSpPr>
        <p:spPr>
          <a:xfrm>
            <a:off x="5415238" y="2459504"/>
            <a:ext cx="566243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Please do check out the other training on the CDCS website. We have lots of different things still on offer this semester!</a:t>
            </a:r>
          </a:p>
        </p:txBody>
      </p:sp>
      <p:pic>
        <p:nvPicPr>
          <p:cNvPr id="2" name="Picture 1" descr="A person standing on a log in the snow&#10;&#10;AI-generated content may be incorrect.">
            <a:extLst>
              <a:ext uri="{FF2B5EF4-FFF2-40B4-BE49-F238E27FC236}">
                <a16:creationId xmlns:a16="http://schemas.microsoft.com/office/drawing/2014/main" id="{48ACA1B7-BD2F-E970-5B10-0A4AB6D967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410" b="44513"/>
          <a:stretch>
            <a:fillRect/>
          </a:stretch>
        </p:blipFill>
        <p:spPr>
          <a:xfrm>
            <a:off x="1867038" y="2044455"/>
            <a:ext cx="2780987" cy="137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3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8B4D5517A630488153011989508B37" ma:contentTypeVersion="17" ma:contentTypeDescription="Create a new document." ma:contentTypeScope="" ma:versionID="1c3eecded0bb523a97c872b0ebcf7ea9">
  <xsd:schema xmlns:xsd="http://www.w3.org/2001/XMLSchema" xmlns:xs="http://www.w3.org/2001/XMLSchema" xmlns:p="http://schemas.microsoft.com/office/2006/metadata/properties" xmlns:ns3="223a9305-0121-4fd6-8e0e-88ce22b52809" xmlns:ns4="1dac4e52-e5b7-4ae0-9acd-21c97977d357" targetNamespace="http://schemas.microsoft.com/office/2006/metadata/properties" ma:root="true" ma:fieldsID="fec1e85b4b125cef8a0eff386a1f2022" ns3:_="" ns4:_="">
    <xsd:import namespace="223a9305-0121-4fd6-8e0e-88ce22b52809"/>
    <xsd:import namespace="1dac4e52-e5b7-4ae0-9acd-21c97977d3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3a9305-0121-4fd6-8e0e-88ce22b528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c4e52-e5b7-4ae0-9acd-21c97977d3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3a9305-0121-4fd6-8e0e-88ce22b52809" xsi:nil="true"/>
  </documentManagement>
</p:properties>
</file>

<file path=customXml/itemProps1.xml><?xml version="1.0" encoding="utf-8"?>
<ds:datastoreItem xmlns:ds="http://schemas.openxmlformats.org/officeDocument/2006/customXml" ds:itemID="{3CA9E8D5-ACB4-4FF0-BB8C-CBA34E0D9F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3a9305-0121-4fd6-8e0e-88ce22b52809"/>
    <ds:schemaRef ds:uri="1dac4e52-e5b7-4ae0-9acd-21c97977d3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EF80F7-0B9A-4CE5-9AE8-3D93976412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FA59BC-CBBA-42CD-8476-A69FA17DEB33}">
  <ds:schemaRefs>
    <ds:schemaRef ds:uri="http://www.w3.org/XML/1998/namespace"/>
    <ds:schemaRef ds:uri="1dac4e52-e5b7-4ae0-9acd-21c97977d357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223a9305-0121-4fd6-8e0e-88ce22b5280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1107</Words>
  <Application>Microsoft Office PowerPoint</Application>
  <PresentationFormat>Widescreen</PresentationFormat>
  <Paragraphs>135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Integral CF Bold</vt:lpstr>
      <vt:lpstr>Calibri Light</vt:lpstr>
      <vt:lpstr>Source Sans Pro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MICHIELIN Lucia</dc:creator>
  <cp:lastModifiedBy>Ponrawee Prasertsom</cp:lastModifiedBy>
  <cp:revision>10</cp:revision>
  <dcterms:created xsi:type="dcterms:W3CDTF">2020-12-14T07:57:59Z</dcterms:created>
  <dcterms:modified xsi:type="dcterms:W3CDTF">2025-12-08T21:18:00Z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0x010100D68B4D5517A630488153011989508B37</vt:lpwstr>
  </property>
  <property fmtid="{D5CDD505-2E9C-101B-9397-08002B2CF9AE}" pid="3" name="MediaServiceImageTags">
    <vt:lpwstr/>
  </property>
</Properties>
</file>